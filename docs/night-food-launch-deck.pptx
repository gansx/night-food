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658368"/>
            <a:ext cx="2148840" cy="329184"/>
          </a:xfrm>
          <a:prstGeom prst="roundRect">
            <a:avLst/>
          </a:prstGeom>
          <a:solidFill>
            <a:srgbClr val="251B10"/>
          </a:solidFill>
          <a:ln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E8DC"/>
                </a:solidFill>
                <a:latin typeface="Aptos"/>
              </a:rPr>
              <a:t>FAMILY WEB3 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234440"/>
            <a:ext cx="621792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5E8DC"/>
                </a:solidFill>
                <a:latin typeface="Microsoft YaHei"/>
              </a:rPr>
              <a:t>家宴星球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267712"/>
            <a:ext cx="3108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F9F5D"/>
                </a:solidFill>
                <a:latin typeface="Aptos"/>
              </a:rPr>
              <a:t>Night Food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944368"/>
            <a:ext cx="63093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>
                <a:solidFill>
                  <a:srgbClr val="A99483"/>
                </a:solidFill>
                <a:latin typeface="Microsoft YaHei"/>
              </a:rPr>
              <a:t>把点餐、任务和积分，变成一个家庭协作的小宇宙。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1005840"/>
            <a:ext cx="3246120" cy="434340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7576" y="1207008"/>
            <a:ext cx="28072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产品完成版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682496"/>
            <a:ext cx="2788920" cy="3611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Web 家庭端 / Admin 家主管理端
Cloudflare 云部署
Supabase 数据与认证
Playwright 线上回归</a:t>
            </a:r>
          </a:p>
        </p:txBody>
      </p:sp>
      <p:sp>
        <p:nvSpPr>
          <p:cNvPr id="37" name="Oval 36"/>
          <p:cNvSpPr/>
          <p:nvPr/>
        </p:nvSpPr>
        <p:spPr>
          <a:xfrm>
            <a:off x="7132320" y="640080"/>
            <a:ext cx="3840480" cy="3840480"/>
          </a:xfrm>
          <a:prstGeom prst="ellipse">
            <a:avLst/>
          </a:prstGeom>
          <a:noFill/>
          <a:ln w="12700">
            <a:solidFill>
              <a:srgbClr val="E7C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52360" y="1097280"/>
            <a:ext cx="2880360" cy="2880360"/>
          </a:xfrm>
          <a:prstGeom prst="ellipse">
            <a:avLst/>
          </a:prstGeom>
          <a:noFill/>
          <a:ln w="12700">
            <a:solidFill>
              <a:srgbClr val="E7C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72400" y="1554480"/>
            <a:ext cx="1920240" cy="1920240"/>
          </a:xfrm>
          <a:prstGeom prst="ellipse">
            <a:avLst/>
          </a:prstGeom>
          <a:noFill/>
          <a:ln w="12700">
            <a:solidFill>
              <a:srgbClr val="E7C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家庭每天都在协作，只是缺少一个好界面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从聊天记录、口头提醒到可持续的家庭协作闭环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1901952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1828800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今天吃什么，经常散落在聊天记录里。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2468880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2395728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家务任务靠口头提醒，反馈感很弱。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" y="3035808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2962656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奖励和积分没有体系，参与感难以持续。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" y="3602736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529584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家主需要维护规则，但不应该背负管理焦虑。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1691640"/>
            <a:ext cx="3566160" cy="2651760"/>
          </a:xfrm>
          <a:prstGeom prst="roundRect">
            <a:avLst/>
          </a:prstGeom>
          <a:solidFill>
            <a:srgbClr val="0B1B22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1892808"/>
            <a:ext cx="31272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设计目标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2368296"/>
            <a:ext cx="3108960" cy="192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让家庭日常变得清楚、轻量、有反馈，而不是把家庭变成公司。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产品定位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家庭协作式点餐与积分任务平台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1783080"/>
            <a:ext cx="60350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E8DC"/>
                </a:solidFill>
                <a:latin typeface="Microsoft YaHei"/>
              </a:rPr>
              <a:t>Night Food 不是餐饮 SaaS，
而是家庭内部的小型协作网络。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977639"/>
            <a:ext cx="2331720" cy="114300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1" y="4142231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4178807"/>
            <a:ext cx="15087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家人点餐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654296"/>
            <a:ext cx="18745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点餐和订单状态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977639"/>
            <a:ext cx="2331720" cy="114300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93592" y="4142231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791" y="4178807"/>
            <a:ext cx="15087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家主维护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654296"/>
            <a:ext cx="18745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菜单、任务、规则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3977639"/>
            <a:ext cx="2331720" cy="114300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53912" y="4142231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4178807"/>
            <a:ext cx="15087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任务积分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54296"/>
            <a:ext cx="18745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完成任务赚积分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3977639"/>
            <a:ext cx="2331720" cy="114300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14232" y="4142231"/>
            <a:ext cx="347472" cy="347472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432" y="4178807"/>
            <a:ext cx="15087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家庭闭环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654296"/>
            <a:ext cx="18745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积分回到点餐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两个入口，两种角色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家人要简单，家主要掌控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1645920"/>
            <a:ext cx="4800600" cy="3337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1847088"/>
            <a:ext cx="43616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Web 家庭端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322576"/>
            <a:ext cx="4343400" cy="2606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点餐
订单
任务
我的
家庭加入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1645920"/>
            <a:ext cx="4800600" cy="3337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57416" y="1847088"/>
            <a:ext cx="43616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Admin 家主管理端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322576"/>
            <a:ext cx="4343400" cy="2606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菜单
订单
任务
积分
成员
规则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23560" y="3246120"/>
            <a:ext cx="914400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566160" y="548640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A99483"/>
                </a:solidFill>
                <a:latin typeface="Microsoft YaHei"/>
              </a:rPr>
              <a:t>同一套家庭数据，两个清晰入口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核心闭环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菜单 -&gt; 点餐 -&gt; 订单 -&gt; 任务 -&gt; 积分 -&gt; 再点餐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01168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" y="217627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221284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菜单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2688336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家主维护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8920" y="123444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53512" y="1399032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143560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点餐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1911095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家人选择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201168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56631" y="2176272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3831" y="221284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订单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688336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处理状态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160" y="123444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59752" y="1399032"/>
            <a:ext cx="347472" cy="347472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6952" y="143560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任务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1911095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领取提交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201168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62872" y="217627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221284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审核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688336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家主确认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92040" y="4251960"/>
            <a:ext cx="1508760" cy="96012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56631" y="4416552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13831" y="4453128"/>
            <a:ext cx="68579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积分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4928616"/>
            <a:ext cx="1051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消费与奖励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91640" y="2514600"/>
            <a:ext cx="1097280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66160" y="1691640"/>
            <a:ext cx="1325880" cy="82296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69280" y="1691640"/>
            <a:ext cx="1325880" cy="82296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72400" y="2514600"/>
            <a:ext cx="1325880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669280" y="2971800"/>
            <a:ext cx="4160520" cy="1554480"/>
          </a:xfrm>
          <a:prstGeom prst="line">
            <a:avLst/>
          </a:prstGeom>
          <a:ln w="15875">
            <a:solidFill>
              <a:srgbClr val="E87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664208" y="2971800"/>
            <a:ext cx="3227832" cy="1783080"/>
          </a:xfrm>
          <a:prstGeom prst="line">
            <a:avLst/>
          </a:prstGeom>
          <a:ln w="15875">
            <a:solidFill>
              <a:srgbClr val="2274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家庭端体验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给家人用的，不是给管理员用的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1764792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1691640"/>
            <a:ext cx="5897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看图点餐，只显示菜名、图片和积分。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2331720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2258568"/>
            <a:ext cx="5897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订单状态清楚，允许范围内可取消。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" y="2898648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2825496"/>
            <a:ext cx="5897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领取任务，提交完成，获得积分反馈。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" y="3465576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392424"/>
            <a:ext cx="5897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移动端底部导航，日常使用更顺手。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1508760"/>
            <a:ext cx="3337560" cy="3611880"/>
          </a:xfrm>
          <a:prstGeom prst="roundRect">
            <a:avLst/>
          </a:prstGeom>
          <a:solidFill>
            <a:srgbClr val="0B1B22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71816" y="1709928"/>
            <a:ext cx="28986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Mobile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185415"/>
            <a:ext cx="2880360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家庭场景大多数发生在手机上。
界面以触控、卡片和底部导航为核心。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家主管理台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家主不是老板，是家庭规则的维护者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150876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" y="1673351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1709928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菜单管理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185415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分类、菜品、图片、推荐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150876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25112" y="1673351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1709928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订单管理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2185415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确认、制作、完成、取消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50876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62671" y="1673351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1709928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任务管理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2185415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发布、指派、审核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370332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7552" y="3867911"/>
            <a:ext cx="347472" cy="347472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44752" y="3904487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积分管理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4379976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流水、统计、手动调整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60520" y="370332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325112" y="3867911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82312" y="3904487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成员管理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379976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角色、邀请码、访问状态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3703320"/>
            <a:ext cx="2834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62671" y="3867911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1" y="3904487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规则设置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4379976"/>
            <a:ext cx="2377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公告、点餐、审核规则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菜单系统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菜单不是列表，是家庭餐桌的配置中心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1673352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1600200"/>
            <a:ext cx="6080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分类管理：只看当前分类，避免无限展开。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2130552"/>
            <a:ext cx="6080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菜品编辑：名称、积分、排序、描述、图片。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" y="2734056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2660904"/>
            <a:ext cx="6080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状态控制：上下架、今日推荐。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" y="3264408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191256"/>
            <a:ext cx="6080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E8DC"/>
                </a:solidFill>
                <a:latin typeface="Microsoft YaHei"/>
              </a:rPr>
              <a:t>静默筛选：切换分类不再重新进入页面。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1600200"/>
            <a:ext cx="3337560" cy="3337560"/>
          </a:xfrm>
          <a:prstGeom prst="roundRect">
            <a:avLst/>
          </a:prstGeom>
          <a:solidFill>
            <a:srgbClr val="0B1B22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63256" y="1801368"/>
            <a:ext cx="28986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关键体验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276856"/>
            <a:ext cx="2880360" cy="2606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当分类越来越多，页面不能变成无尽长列表。
现在只显示选中分类，管理更聚焦。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任务积分系统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把家务变成有反馈的参与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2148840"/>
            <a:ext cx="1691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3271" y="231343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2350008"/>
            <a:ext cx="868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2825496"/>
            <a:ext cx="1234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家主创建任务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60320" y="2807208"/>
            <a:ext cx="438912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017520" y="2148840"/>
            <a:ext cx="1691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82112" y="2313432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2350008"/>
            <a:ext cx="868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领取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2825496"/>
            <a:ext cx="1234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成员参与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09160" y="2807208"/>
            <a:ext cx="438912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166360" y="2148840"/>
            <a:ext cx="1691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30952" y="2313432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2350008"/>
            <a:ext cx="868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提交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2825496"/>
            <a:ext cx="1234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完成任务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0" y="2807208"/>
            <a:ext cx="438912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315200" y="2148840"/>
            <a:ext cx="1691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79792" y="2313432"/>
            <a:ext cx="347472" cy="347472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2350008"/>
            <a:ext cx="868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审核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2825496"/>
            <a:ext cx="1234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家主确认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06840" y="2807208"/>
            <a:ext cx="438912" cy="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464040" y="2148840"/>
            <a:ext cx="1691640" cy="132588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28632" y="231343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5832" y="2350008"/>
            <a:ext cx="868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到账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825496"/>
            <a:ext cx="1234440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积分发放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4892040"/>
            <a:ext cx="98755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99483"/>
                </a:solidFill>
                <a:latin typeface="Microsoft YaHei"/>
              </a:rPr>
              <a:t>完成一件事之后，系统马上承认这件事。反馈，是家庭协作持续下去的燃料。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权限与家庭邀请码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一个家庭，一个空间，一个邀请码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645920"/>
            <a:ext cx="2788920" cy="26517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" y="181051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1847088"/>
            <a:ext cx="1965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创建家庭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2322576"/>
            <a:ext cx="2331720" cy="192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家主创建家庭空间，成为默认 owner。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1645920"/>
            <a:ext cx="2788920" cy="26517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90872" y="1810512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1847088"/>
            <a:ext cx="1965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邀请码加入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322576"/>
            <a:ext cx="2331720" cy="192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成员注册后输入家庭邀请码完成绑定。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645920"/>
            <a:ext cx="2788920" cy="26517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02752" y="1810512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1847088"/>
            <a:ext cx="1965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角色管理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322576"/>
            <a:ext cx="2331720" cy="192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家主维护成员角色和访问状态。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166360"/>
            <a:ext cx="8321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99483"/>
                </a:solidFill>
                <a:latin typeface="Microsoft YaHei"/>
              </a:rPr>
              <a:t>简单加入，清晰边界。后台管理端只给家主。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体验升级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从网页变成 App 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移动端底部导航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自定义下拉弹层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静默筛选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暗色玻璃主题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5429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云端部署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045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线上 e2e 回归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更少跳转，更像一个真正能用的家庭工具。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技术架构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轻量，但完整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240280"/>
            <a:ext cx="2011680" cy="1051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2441448"/>
            <a:ext cx="157276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916936"/>
            <a:ext cx="155448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Mobile / Desktop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1417320"/>
            <a:ext cx="2331720" cy="1051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77056" y="1618488"/>
            <a:ext cx="1892807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Web 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2093976"/>
            <a:ext cx="187451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家庭端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3154680"/>
            <a:ext cx="2331720" cy="1051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77056" y="3355848"/>
            <a:ext cx="1892807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Admin Worker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3831336"/>
            <a:ext cx="187451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家主管理端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2240280"/>
            <a:ext cx="2743200" cy="105156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2441448"/>
            <a:ext cx="23042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Supabase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916936"/>
            <a:ext cx="22860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Auth / Postgres / Storage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2834640" y="1938528"/>
            <a:ext cx="822960" cy="822960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34640" y="2761488"/>
            <a:ext cx="822960" cy="914399"/>
          </a:xfrm>
          <a:prstGeom prst="line">
            <a:avLst/>
          </a:prstGeom>
          <a:ln w="15875">
            <a:solidFill>
              <a:srgbClr val="EF9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89320" y="1938528"/>
            <a:ext cx="1325880" cy="822960"/>
          </a:xfrm>
          <a:prstGeom prst="line">
            <a:avLst/>
          </a:prstGeom>
          <a:ln w="15875">
            <a:solidFill>
              <a:srgbClr val="2274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89320" y="2761488"/>
            <a:ext cx="1325880" cy="914399"/>
          </a:xfrm>
          <a:prstGeom prst="line">
            <a:avLst/>
          </a:prstGeom>
          <a:ln w="15875">
            <a:solidFill>
              <a:srgbClr val="E87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286000" y="5166360"/>
            <a:ext cx="7772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99483"/>
                </a:solidFill>
                <a:latin typeface="Microsoft YaHei"/>
              </a:rPr>
              <a:t>Next.js App Router + Cloudflare Workers + Supabase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云端闭环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从代码到线上，每一步自动化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240280"/>
            <a:ext cx="178308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" y="240487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2441448"/>
            <a:ext cx="96011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916936"/>
            <a:ext cx="1325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提交代码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06040" y="2852928"/>
            <a:ext cx="457200" cy="0"/>
          </a:xfrm>
          <a:prstGeom prst="line">
            <a:avLst/>
          </a:prstGeom>
          <a:ln w="15875">
            <a:solidFill>
              <a:srgbClr val="E7C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063240" y="2240280"/>
            <a:ext cx="178308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27832" y="2404872"/>
            <a:ext cx="347472" cy="347472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5032" y="2441448"/>
            <a:ext cx="96011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2916936"/>
            <a:ext cx="1325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构建检查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46320" y="2852928"/>
            <a:ext cx="457200" cy="0"/>
          </a:xfrm>
          <a:prstGeom prst="line">
            <a:avLst/>
          </a:prstGeom>
          <a:ln w="15875">
            <a:solidFill>
              <a:srgbClr val="E7C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303520" y="2240280"/>
            <a:ext cx="178308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68112" y="2404872"/>
            <a:ext cx="347472" cy="347472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2441448"/>
            <a:ext cx="96011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Cloudflare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2916936"/>
            <a:ext cx="1325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Web/Admin 部署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86600" y="2852928"/>
            <a:ext cx="457200" cy="0"/>
          </a:xfrm>
          <a:prstGeom prst="line">
            <a:avLst/>
          </a:prstGeom>
          <a:ln w="15875">
            <a:solidFill>
              <a:srgbClr val="E7C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543800" y="2240280"/>
            <a:ext cx="178308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8392" y="2404872"/>
            <a:ext cx="347472" cy="347472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5592" y="2441448"/>
            <a:ext cx="96011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Supabase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2916936"/>
            <a:ext cx="1325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数据与认证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26880" y="2852928"/>
            <a:ext cx="457200" cy="0"/>
          </a:xfrm>
          <a:prstGeom prst="line">
            <a:avLst/>
          </a:prstGeom>
          <a:ln w="15875">
            <a:solidFill>
              <a:srgbClr val="E7C9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784080" y="2240280"/>
            <a:ext cx="178308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48672" y="2404872"/>
            <a:ext cx="347472" cy="347472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507"/>
                </a:solidFill>
                <a:latin typeface="Apto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5872" y="2441448"/>
            <a:ext cx="960119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Playwright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2916936"/>
            <a:ext cx="1325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线上回归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07492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A99483"/>
                </a:solidFill>
                <a:latin typeface="Microsoft YaHei"/>
              </a:rPr>
              <a:t>项目不是只在本地跑通，而是已经形成持续上线能力。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项目价值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让家庭日常有一个温柔的系统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1673352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1600200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8DC"/>
                </a:solidFill>
                <a:latin typeface="Microsoft YaHei"/>
              </a:rPr>
              <a:t>点餐更清楚。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" y="2267712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2194560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8DC"/>
                </a:solidFill>
                <a:latin typeface="Microsoft YaHei"/>
              </a:rPr>
              <a:t>家务更有反馈。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2862072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2788920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8DC"/>
                </a:solidFill>
                <a:latin typeface="Microsoft YaHei"/>
              </a:rPr>
              <a:t>积分更有意义。</a:t>
            </a:r>
          </a:p>
        </p:txBody>
      </p:sp>
      <p:sp>
        <p:nvSpPr>
          <p:cNvPr id="38" name="Oval 37"/>
          <p:cNvSpPr/>
          <p:nvPr/>
        </p:nvSpPr>
        <p:spPr>
          <a:xfrm>
            <a:off x="960120" y="3456432"/>
            <a:ext cx="109728" cy="109728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3383280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8DC"/>
                </a:solidFill>
                <a:latin typeface="Microsoft YaHei"/>
              </a:rPr>
              <a:t>家主更省心。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" y="4050791"/>
            <a:ext cx="109728" cy="109728"/>
          </a:xfrm>
          <a:prstGeom prst="ellipse">
            <a:avLst/>
          </a:prstGeom>
          <a:solidFill>
            <a:srgbClr val="EF9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977639"/>
            <a:ext cx="4800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E8DC"/>
                </a:solidFill>
                <a:latin typeface="Microsoft YaHei"/>
              </a:rPr>
              <a:t>家人更容易参与。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44805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好的家庭工具，不是让家庭变得机械，
而是让协作更少摩擦。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58368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E8DC"/>
                </a:solidFill>
                <a:latin typeface="Microsoft YaHei"/>
              </a:rPr>
              <a:t>未来路线图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225296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9483"/>
                </a:solidFill>
                <a:latin typeface="Microsoft YaHei"/>
              </a:rPr>
              <a:t>更有生命力的家庭小宇宙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积分商城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把积分变成更多家庭权益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排行榜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让参与可见但不制造压力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46304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87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66420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成就徽章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13969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给任务完成更多仪式感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9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消息提醒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点餐和任务不再错过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5429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PWA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像 App 一样安装和打开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3429000"/>
            <a:ext cx="2971800" cy="1234440"/>
          </a:xfrm>
          <a:prstGeom prst="roundRect">
            <a:avLst/>
          </a:prstGeom>
          <a:solidFill>
            <a:srgbClr val="07111A"/>
          </a:solidFill>
          <a:ln w="12700">
            <a:solidFill>
              <a:srgbClr val="227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0456" y="3630168"/>
            <a:ext cx="25328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AI 推荐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05656"/>
            <a:ext cx="2514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根据家庭偏好推荐菜单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480560" cy="4480560"/>
          </a:xfrm>
          <a:prstGeom prst="ellipse">
            <a:avLst/>
          </a:prstGeom>
          <a:solidFill>
            <a:srgbClr val="E8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05840"/>
            <a:ext cx="4937760" cy="4937760"/>
          </a:xfrm>
          <a:prstGeom prst="ellipse">
            <a:avLst/>
          </a:prstGeom>
          <a:solidFill>
            <a:srgbClr val="227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754880"/>
            <a:ext cx="5303520" cy="5303520"/>
          </a:xfrm>
          <a:prstGeom prst="ellipse">
            <a:avLst/>
          </a:prstGeom>
          <a:solidFill>
            <a:srgbClr val="29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D2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37376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A99483"/>
                </a:solidFill>
                <a:latin typeface="Aptos"/>
              </a:rPr>
              <a:t>Night Food / 家宴星球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00800"/>
            <a:ext cx="457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9483"/>
                </a:solidFill>
                <a:latin typeface="Aptos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1234440"/>
            <a:ext cx="39319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F9F5D"/>
                </a:solidFill>
                <a:latin typeface="Aptos"/>
              </a:rPr>
              <a:t>Night Food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1828800"/>
            <a:ext cx="50292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600" b="1">
                <a:solidFill>
                  <a:srgbClr val="F5E8DC"/>
                </a:solidFill>
                <a:latin typeface="Microsoft YaHei"/>
              </a:rPr>
              <a:t>家宴星球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971800"/>
            <a:ext cx="65836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0">
                <a:solidFill>
                  <a:srgbClr val="A99483"/>
                </a:solidFill>
                <a:latin typeface="Microsoft YaHei"/>
              </a:rPr>
              <a:t>让每一次点餐和每一次任务，
都成为家庭协作的一部分。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1600200"/>
            <a:ext cx="3291840" cy="3383280"/>
          </a:xfrm>
          <a:prstGeom prst="roundRect">
            <a:avLst/>
          </a:prstGeom>
          <a:solidFill>
            <a:srgbClr val="0B1B22"/>
          </a:solidFill>
          <a:ln w="12700">
            <a:solidFill>
              <a:srgbClr val="EF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3256" y="1801368"/>
            <a:ext cx="285292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E8DC"/>
                </a:solidFill>
                <a:latin typeface="Microsoft YaHei"/>
              </a:rPr>
              <a:t>发布完成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276856"/>
            <a:ext cx="2834640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9483"/>
                </a:solidFill>
                <a:latin typeface="Microsoft YaHei"/>
              </a:rPr>
              <a:t>核心闭环已上线
Web/Admin 云端部署
线上 e2e 通过
下一站：家庭小宇宙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